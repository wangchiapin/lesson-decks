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咖啡：café / coffee  //  後面：atrás / behind  //  撞到：chocar contra / bump into</a:t>
            </a:r>
          </a:p>
          <a:p>
            <a:r>
              <a:t>灑：derramar / spill  //  白：blanco / white  //  衣服：ropa / clothes</a:t>
            </a:r>
          </a:p>
          <a:p>
            <a:r>
              <a:t>變成：convertirse en / turn into  //  咖啡色：color café / brown  //  一直：continuamente / keep (doing)</a:t>
            </a:r>
          </a:p>
          <a:p>
            <a:r>
              <a:t>對不起：perdón / sorry  //  沒關係：no pasa nada / it's okay  //  馬上：de inmediato / right away</a:t>
            </a:r>
          </a:p>
          <a:p>
            <a:r>
              <a:t>洗：lavar / wash</a:t>
            </a:r>
          </a:p>
          <a:p/>
          <a:p>
            <a:r>
              <a:t>問答：早上我在路上做什麼? // 誰撞到我? // 咖啡灑到哪裡? // 衣服變成什麼顏色? // 那個人說什麼? // 我怎麼回答? // 回家以後我做什麼?</a:t>
            </a:r>
          </a:p>
          <a:p>
            <a:r>
              <a:t>補充：變成（變成咖啡色、變成黑色、變成大人） // V到（撞到、碰到、灑到；el resultado de la acción） // 對不起↔沒關係（disculparse y responder）</a:t>
            </a:r>
          </a:p>
          <a:p/>
          <a:p>
            <a:r>
              <a:t>西班牙文：Por la mañana iba tomando café en la calle. Alguien me chocó por detrás. El café se derramó sobre mi ropa blanca. La ropa se volvió color café. Esa persona no paraba de decir perdón. Sonreí y dije: «No pasa nada». Al llegar a casa, lavé la ropa de inmediato.</a:t>
            </a:r>
          </a:p>
          <a:p>
            <a:r>
              <a:t>英文：In the morning I was drinking coffee on the street. Someone bumped into me from behind. The coffee spilled on my white clothes. My clothes turned brown. That person kept saying sorry. I smiled and said, "It's okay." When I got home, I washed the clothes right away.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1.你喝咖啡嗎? 一天喝幾杯? ¿Tomas café? ¿Cuántas tazas al día?</a:t>
            </a:r>
          </a:p>
          <a:p>
            <a:r>
              <a:t>2.你喜歡在路上喝東西嗎? ¿Te gusta tomar bebidas mientras caminas?</a:t>
            </a:r>
          </a:p>
          <a:p>
            <a:r>
              <a:t>3.你有被別人撞到的經驗嗎? ¿Alguna vez alguien chocó contigo?</a:t>
            </a:r>
          </a:p>
          <a:p>
            <a:r>
              <a:t>4.你最近一次弄髒衣服是什麼時候? ¿Cuándo fue la última vez que ensuciaste tu ropa?</a:t>
            </a:r>
          </a:p>
          <a:p>
            <a:r>
              <a:t>5.你的衣服髒了，你通常怎麼洗? Si tu ropa se ensucia, ¿cómo la lavas normalmente?</a:t>
            </a:r>
          </a:p>
          <a:p>
            <a:r>
              <a:t>6.你覺得撞到人的時候，要說什麼? Cuando chocas con alguien, ¿qué dices?</a:t>
            </a:r>
          </a:p>
          <a:p>
            <a:r>
              <a:t>7.在你的國家，大家會生氣還是說沒關係? En tu país, ¿la gente se enoja o dice que no pasa nada?</a:t>
            </a:r>
          </a:p>
          <a:p>
            <a:r>
              <a:t>8.在你的國家，咖啡一杯多少錢? En tu país, ¿cuánto cuesta un café?</a:t>
            </a:r>
          </a:p>
          <a:p>
            <a:r>
              <a:t>9.如果你很趕時間，衣服卻髒了，你會怎麼辦? Si tienes prisa y tu ropa se ensucia, ¿qué haces?</a:t>
            </a:r>
          </a:p>
          <a:p>
            <a:r>
              <a:t>10.如果對方不道歉，你會說什麼? Si la otra persona no se disculpa, ¿qué le dices?</a:t>
            </a:r>
          </a:p>
          <a:p/>
          <a:p>
            <a:r>
              <a:t>1.Do you drink coffee? How many cups a day?</a:t>
            </a:r>
          </a:p>
          <a:p>
            <a:r>
              <a:t>2.Do you like drinking while walking?</a:t>
            </a:r>
          </a:p>
          <a:p>
            <a:r>
              <a:t>3.Has anyone ever bumped into you?</a:t>
            </a:r>
          </a:p>
          <a:p>
            <a:r>
              <a:t>4.When was the last time you got your clothes dirty?</a:t>
            </a:r>
          </a:p>
          <a:p>
            <a:r>
              <a:t>5.When your clothes are dirty, how do you usually wash them?</a:t>
            </a:r>
          </a:p>
          <a:p>
            <a:r>
              <a:t>6.What do you say when you bump into someone?</a:t>
            </a:r>
          </a:p>
          <a:p>
            <a:r>
              <a:t>7.In your country, do people get angry or say it's okay?</a:t>
            </a:r>
          </a:p>
          <a:p>
            <a:r>
              <a:t>8.In your country, how much is a cup of coffee?</a:t>
            </a:r>
          </a:p>
          <a:p>
            <a:r>
              <a:t>9.If you're in a hurry and your clothes get dirty, what do you do?</a:t>
            </a:r>
          </a:p>
          <a:p>
            <a:r>
              <a:t>10.If the other person doesn't apologize, what would you say?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咖啡：café / coffee  //  後面：atrás / behind  //  撞到：chocar contra / bump into</a:t>
            </a:r>
          </a:p>
          <a:p>
            <a:r>
              <a:t>灑：derramar / spill  //  白：blanco / white  //  衣服：ropa / clothes</a:t>
            </a:r>
          </a:p>
          <a:p>
            <a:r>
              <a:t>變成：convertirse en / turn into  //  咖啡色：color café / brown  //  一直：continuamente / keep (doing)</a:t>
            </a:r>
          </a:p>
          <a:p>
            <a:r>
              <a:t>對不起：perdón / sorry  //  沒關係：no pasa nada / it's okay  //  馬上：de inmediato / right away</a:t>
            </a:r>
          </a:p>
          <a:p>
            <a:r>
              <a:t>洗：lavar / wash</a:t>
            </a:r>
          </a:p>
          <a:p/>
          <a:p>
            <a:r>
              <a:t>問答：早上我在路上做什麼? // 誰撞到我? // 咖啡灑到哪裡? // 衣服變成什麼顏色? // 那個人說什麼? // 我怎麼回答? // 回家以後我做什麼?</a:t>
            </a:r>
          </a:p>
          <a:p>
            <a:r>
              <a:t>補充：變成（變成咖啡色、變成黑色、變成大人） // V到（撞到、碰到、灑到；el resultado de la acción） // 對不起↔沒關係（disculparse y responder）</a:t>
            </a:r>
          </a:p>
          <a:p/>
          <a:p>
            <a:r>
              <a:t>西班牙文：Por la mañana iba tomando café en la calle. Alguien me chocó por detrás. El café se derramó sobre mi ropa blanca. La ropa se volvió color café. Esa persona no paraba de decir perdón. Sonreí y dije: «No pasa nada». Al llegar a casa, lavé la ropa de inmediato.</a:t>
            </a:r>
          </a:p>
          <a:p>
            <a:r>
              <a:t>英文：In the morning I was drinking coffee on the street. Someone bumped into me from behind. The coffee spilled on my white clothes. My clothes turned brown. That person kept saying sorry. I smiled and said, "It's okay." When I got home, I washed the clothes right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1.你喝咖啡嗎? 一天喝幾杯? ¿Tomas café? ¿Cuántas tazas al día?</a:t>
            </a:r>
          </a:p>
          <a:p>
            <a:r>
              <a:t>2.你喜歡在路上喝東西嗎? ¿Te gusta tomar bebidas mientras caminas?</a:t>
            </a:r>
          </a:p>
          <a:p>
            <a:r>
              <a:t>3.你有被別人撞到的經驗嗎? ¿Alguna vez alguien chocó contigo?</a:t>
            </a:r>
          </a:p>
          <a:p>
            <a:r>
              <a:t>4.你最近一次弄髒衣服是什麼時候? ¿Cuándo fue la última vez que ensuciaste tu ropa?</a:t>
            </a:r>
          </a:p>
          <a:p>
            <a:r>
              <a:t>5.你的衣服髒了，你通常怎麼洗? Si tu ropa se ensucia, ¿cómo la lavas normalmente?</a:t>
            </a:r>
          </a:p>
          <a:p>
            <a:r>
              <a:t>6.你覺得撞到人的時候，要說什麼? Cuando chocas con alguien, ¿qué dices?</a:t>
            </a:r>
          </a:p>
          <a:p>
            <a:r>
              <a:t>7.在你的國家，大家會生氣還是說沒關係? En tu país, ¿la gente se enoja o dice que no pasa nada?</a:t>
            </a:r>
          </a:p>
          <a:p>
            <a:r>
              <a:t>8.在你的國家，咖啡一杯多少錢? En tu país, ¿cuánto cuesta un café?</a:t>
            </a:r>
          </a:p>
          <a:p>
            <a:r>
              <a:t>9.如果你很趕時間，衣服卻髒了，你會怎麼辦? Si tienes prisa y tu ropa se ensucia, ¿qué haces?</a:t>
            </a:r>
          </a:p>
          <a:p>
            <a:r>
              <a:t>10.如果對方不道歉，你會說什麼? Si la otra persona no se disculpa, ¿qué le dices?</a:t>
            </a:r>
          </a:p>
          <a:p/>
          <a:p>
            <a:r>
              <a:t>1.Do you drink coffee? How many cups a day?</a:t>
            </a:r>
          </a:p>
          <a:p>
            <a:r>
              <a:t>2.Do you like drinking while walking?</a:t>
            </a:r>
          </a:p>
          <a:p>
            <a:r>
              <a:t>3.Has anyone ever bumped into you?</a:t>
            </a:r>
          </a:p>
          <a:p>
            <a:r>
              <a:t>4.When was the last time you got your clothes dirty?</a:t>
            </a:r>
          </a:p>
          <a:p>
            <a:r>
              <a:t>5.When your clothes are dirty, how do you usually wash them?</a:t>
            </a:r>
          </a:p>
          <a:p>
            <a:r>
              <a:t>6.What do you say when you bump into someone?</a:t>
            </a:r>
          </a:p>
          <a:p>
            <a:r>
              <a:t>7.In your country, do people get angry or say it's okay?</a:t>
            </a:r>
          </a:p>
          <a:p>
            <a:r>
              <a:t>8.In your country, how much is a cup of coffee?</a:t>
            </a:r>
          </a:p>
          <a:p>
            <a:r>
              <a:t>9.If you're in a hurry and your clothes get dirty, what do you do?</a:t>
            </a:r>
          </a:p>
          <a:p>
            <a:r>
              <a:t>10.If the other person doesn't apologize, what would you say?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TW">
                <a:solidFill>
                  <a:srgbClr val="000000"/>
                </a:solidFill>
                <a:latin typeface="澳聲通拼音庫楷-繁"/>
                <a:ea typeface="澳聲通拼音庫楷-繁"/>
                <a:cs typeface="澳聲通拼音庫楷-繁"/>
              </a:rPr>
              <a:t>早上我在路上喝咖啡</a:t>
            </a:r>
          </a:p>
          <a:p>
            <a:pPr algn="ctr">
              <a:lnSpc>
                <a:spcPct val="150000"/>
              </a:lnSpc>
            </a:pPr>
            <a:r>
              <a:rPr sz="4000" lang="zh-TW">
                <a:solidFill>
                  <a:srgbClr val="000000"/>
                </a:solidFill>
                <a:latin typeface="澳聲通拼音庫楷-繁"/>
                <a:ea typeface="澳聲通拼音庫楷-繁"/>
                <a:cs typeface="澳聲通拼音庫楷-繁"/>
              </a:rPr>
              <a:t>有人從後面撞到我</a:t>
            </a:r>
          </a:p>
          <a:p>
            <a:pPr algn="ctr">
              <a:lnSpc>
                <a:spcPct val="150000"/>
              </a:lnSpc>
            </a:pPr>
            <a:r>
              <a:rPr sz="4000" lang="zh-TW">
                <a:solidFill>
                  <a:srgbClr val="000000"/>
                </a:solidFill>
                <a:latin typeface="澳聲通拼音庫楷-繁"/>
                <a:ea typeface="澳聲通拼音庫楷-繁"/>
                <a:cs typeface="澳聲通拼音庫楷-繁"/>
              </a:rPr>
              <a:t>咖啡灑到我的白衣服</a:t>
            </a:r>
          </a:p>
          <a:p>
            <a:pPr algn="ctr">
              <a:lnSpc>
                <a:spcPct val="150000"/>
              </a:lnSpc>
            </a:pPr>
            <a:r>
              <a:rPr sz="4000" lang="zh-TW">
                <a:solidFill>
                  <a:srgbClr val="000000"/>
                </a:solidFill>
                <a:latin typeface="澳聲通拼音庫楷-繁"/>
                <a:ea typeface="澳聲通拼音庫楷-繁"/>
                <a:cs typeface="澳聲通拼音庫楷-繁"/>
              </a:rPr>
              <a:t>衣服變成咖啡色了</a:t>
            </a:r>
          </a:p>
          <a:p>
            <a:pPr algn="ctr">
              <a:lnSpc>
                <a:spcPct val="150000"/>
              </a:lnSpc>
            </a:pPr>
            <a:r>
              <a:rPr sz="4000" lang="zh-TW">
                <a:solidFill>
                  <a:srgbClr val="000000"/>
                </a:solidFill>
                <a:latin typeface="澳聲通拼音庫楷-繁"/>
                <a:ea typeface="澳聲通拼音庫楷-繁"/>
                <a:cs typeface="澳聲通拼音庫楷-繁"/>
              </a:rPr>
              <a:t>那個人一直說對不起</a:t>
            </a:r>
          </a:p>
          <a:p>
            <a:pPr algn="ctr">
              <a:lnSpc>
                <a:spcPct val="150000"/>
              </a:lnSpc>
            </a:pPr>
            <a:r>
              <a:rPr sz="4000" lang="zh-TW">
                <a:solidFill>
                  <a:srgbClr val="000000"/>
                </a:solidFill>
                <a:latin typeface="澳聲通拼音庫楷-繁"/>
                <a:ea typeface="澳聲通拼音庫楷-繁"/>
                <a:cs typeface="澳聲通拼音庫楷-繁"/>
              </a:rPr>
              <a:t>我笑一笑說：「沒關係」</a:t>
            </a:r>
          </a:p>
          <a:p>
            <a:pPr algn="ctr">
              <a:lnSpc>
                <a:spcPct val="150000"/>
              </a:lnSpc>
            </a:pPr>
            <a:r>
              <a:rPr sz="4000" lang="zh-TW">
                <a:solidFill>
                  <a:srgbClr val="000000"/>
                </a:solidFill>
                <a:latin typeface="澳聲通拼音庫楷-繁"/>
                <a:ea typeface="澳聲通拼音庫楷-繁"/>
                <a:cs typeface="澳聲通拼音庫楷-繁"/>
              </a:rPr>
              <a:t>回家以後，我馬上洗衣服</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CN">
                <a:solidFill>
                  <a:srgbClr val="000000"/>
                </a:solidFill>
                <a:latin typeface="澳聲通拼音庫楷-繁"/>
                <a:ea typeface="澳聲通拼音庫楷-繁"/>
                <a:cs typeface="澳聲通拼音庫楷-繁"/>
              </a:rPr>
              <a:t>早上我在路上喝咖啡</a:t>
            </a:r>
          </a:p>
          <a:p>
            <a:pPr algn="ctr">
              <a:lnSpc>
                <a:spcPct val="150000"/>
              </a:lnSpc>
            </a:pPr>
            <a:r>
              <a:rPr sz="4000" lang="zh-CN">
                <a:solidFill>
                  <a:srgbClr val="000000"/>
                </a:solidFill>
                <a:latin typeface="澳聲通拼音庫楷-繁"/>
                <a:ea typeface="澳聲通拼音庫楷-繁"/>
                <a:cs typeface="澳聲通拼音庫楷-繁"/>
              </a:rPr>
              <a:t>有人从后面撞到我</a:t>
            </a:r>
          </a:p>
          <a:p>
            <a:pPr algn="ctr">
              <a:lnSpc>
                <a:spcPct val="150000"/>
              </a:lnSpc>
            </a:pPr>
            <a:r>
              <a:rPr sz="4000" lang="zh-CN">
                <a:solidFill>
                  <a:srgbClr val="000000"/>
                </a:solidFill>
                <a:latin typeface="澳聲通拼音庫楷-繁"/>
                <a:ea typeface="澳聲通拼音庫楷-繁"/>
                <a:cs typeface="澳聲通拼音庫楷-繁"/>
              </a:rPr>
              <a:t>咖啡洒到我的白衣服</a:t>
            </a:r>
          </a:p>
          <a:p>
            <a:pPr algn="ctr">
              <a:lnSpc>
                <a:spcPct val="150000"/>
              </a:lnSpc>
            </a:pPr>
            <a:r>
              <a:rPr sz="4000" lang="zh-CN">
                <a:solidFill>
                  <a:srgbClr val="000000"/>
                </a:solidFill>
                <a:latin typeface="澳聲通拼音庫楷-繁"/>
                <a:ea typeface="澳聲通拼音庫楷-繁"/>
                <a:cs typeface="澳聲通拼音庫楷-繁"/>
              </a:rPr>
              <a:t>衣服变成咖啡色了</a:t>
            </a:r>
          </a:p>
          <a:p>
            <a:pPr algn="ctr">
              <a:lnSpc>
                <a:spcPct val="150000"/>
              </a:lnSpc>
            </a:pPr>
            <a:r>
              <a:rPr sz="4000" lang="zh-CN">
                <a:solidFill>
                  <a:srgbClr val="000000"/>
                </a:solidFill>
                <a:latin typeface="澳聲通拼音庫楷-繁"/>
                <a:ea typeface="澳聲通拼音庫楷-繁"/>
                <a:cs typeface="澳聲通拼音庫楷-繁"/>
              </a:rPr>
              <a:t>那个人一直说对不起</a:t>
            </a:r>
          </a:p>
          <a:p>
            <a:pPr algn="ctr">
              <a:lnSpc>
                <a:spcPct val="150000"/>
              </a:lnSpc>
            </a:pPr>
            <a:r>
              <a:rPr sz="4000" lang="zh-CN">
                <a:solidFill>
                  <a:srgbClr val="000000"/>
                </a:solidFill>
                <a:latin typeface="澳聲通拼音庫楷-繁"/>
                <a:ea typeface="澳聲通拼音庫楷-繁"/>
                <a:cs typeface="澳聲通拼音庫楷-繁"/>
              </a:rPr>
              <a:t>我笑一笑说：「没关系」</a:t>
            </a:r>
          </a:p>
          <a:p>
            <a:pPr algn="ctr">
              <a:lnSpc>
                <a:spcPct val="150000"/>
              </a:lnSpc>
            </a:pPr>
            <a:r>
              <a:rPr sz="4000" lang="zh-CN">
                <a:solidFill>
                  <a:srgbClr val="000000"/>
                </a:solidFill>
                <a:latin typeface="澳聲通拼音庫楷-繁"/>
                <a:ea typeface="澳聲通拼音庫楷-繁"/>
                <a:cs typeface="澳聲通拼音庫楷-繁"/>
              </a:rPr>
              <a:t>回家以后，我马上洗衣服</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