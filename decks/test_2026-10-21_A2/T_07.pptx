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餓：tener hambre / hungry  //  煮：cocinar, hervir / cook, boil  //  泡麵：fideos instantáneos / instant noodles</a:t>
            </a:r>
          </a:p>
          <a:p>
            <a:r>
              <a:t>一包：un paquete / one pack  //  一邊…一邊…：mientras… / while…  //  等：esperar / wait</a:t>
            </a:r>
          </a:p>
          <a:p>
            <a:r>
              <a:t>過了很久：pasó mucho tiempo / after a long time  //  想到：acordarse de / think of  //  麵：fideos / noodles</a:t>
            </a:r>
          </a:p>
          <a:p>
            <a:r>
              <a:t>已經：ya / already  //  變得：volverse / become  //  軟軟的：blandito / soft, mushy</a:t>
            </a:r>
          </a:p>
          <a:p>
            <a:r>
              <a:t>湯：caldo, sopa / soup, broth</a:t>
            </a:r>
          </a:p>
          <a:p/>
          <a:p>
            <a:r>
              <a:t>問答：晚上我覺得怎麼樣? // 我煮了什麼? // 我一邊做什麼，一邊等? // 我什麼時候才想到泡麵? // 麵變得怎麼樣? // 湯怎麼了? // 最後我吃了嗎?</a:t>
            </a:r>
          </a:p>
          <a:p>
            <a:r>
              <a:t>補充：一邊…一邊…（一邊吃飯一邊看電視、一邊走路一邊聽音樂） // 才（過了很久才想到、很晚才睡；recién/hasta que） // 已經…了（已經變軟了、已經十二點了）</a:t>
            </a:r>
          </a:p>
          <a:p/>
          <a:p>
            <a:r>
              <a:t>西班牙文：Por la noche tenía un poco de hambre. Cociné un paquete de fideos instantáneos. Mientras miraba el celular, esperaba. Pasó mucho tiempo hasta que me acordé de los fideos. Ya estaban blanditos. Y el caldo casi se había acabado. Aun así me los terminé.</a:t>
            </a:r>
          </a:p>
          <a:p>
            <a:r>
              <a:t>英文：In the evening I was a little hungry. I cooked a pack of instant noodles. I looked at my phone while waiting. After a long time I finally remembered the noodles. They had already gone soft. The broth was almost gone too. I still finished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1.你常常吃泡麵嗎? ¿Comes fideos instantáneos con frecuencia?</a:t>
            </a:r>
          </a:p>
          <a:p>
            <a:r>
              <a:t>2.你喜歡什麼口味的泡麵? ¿Qué sabor de fideos instantáneos te gusta?</a:t>
            </a:r>
          </a:p>
          <a:p>
            <a:r>
              <a:t>3.你最近一次煮東西是什麼時候? ¿Cuándo fue la última vez que cocinaste?</a:t>
            </a:r>
          </a:p>
          <a:p>
            <a:r>
              <a:t>4.你煮東西的時候，會做別的事嗎? Cuando cocinas, ¿haces otras cosas?</a:t>
            </a:r>
          </a:p>
          <a:p>
            <a:r>
              <a:t>5.你喜歡麵硬一點還是軟一點? ¿Prefieres los fideos más duros o más blandos?</a:t>
            </a:r>
          </a:p>
          <a:p>
            <a:r>
              <a:t>6.你覺得吃泡麵好不好? 為什麼? ¿Crees que comer fideos instantáneos es bueno? ¿Por qué?</a:t>
            </a:r>
          </a:p>
          <a:p>
            <a:r>
              <a:t>7.在你的國家，有泡麵嗎? En tu país, ¿hay fideos instantáneos?</a:t>
            </a:r>
          </a:p>
          <a:p>
            <a:r>
              <a:t>8.在你的國家，大家晚上餓了會吃什麼? En tu país, ¿qué come la gente cuando tiene hambre de noche?</a:t>
            </a:r>
          </a:p>
          <a:p>
            <a:r>
              <a:t>9.如果你煮壞了，還會吃嗎? Si cocinas mal algo, ¿igual lo comes?</a:t>
            </a:r>
          </a:p>
          <a:p>
            <a:r>
              <a:t>10.如果你只有泡麵，你會加什麼東西? Si solo tienes fideos instantáneos, ¿qué les agregarías?</a:t>
            </a:r>
          </a:p>
          <a:p/>
          <a:p>
            <a:r>
              <a:t>1.Do you often eat instant noodles?</a:t>
            </a:r>
          </a:p>
          <a:p>
            <a:r>
              <a:t>2.What flavor of instant noodles do you like?</a:t>
            </a:r>
          </a:p>
          <a:p>
            <a:r>
              <a:t>3.When was the last time you cooked?</a:t>
            </a:r>
          </a:p>
          <a:p>
            <a:r>
              <a:t>4.When you cook, do you do other things?</a:t>
            </a:r>
          </a:p>
          <a:p>
            <a:r>
              <a:t>5.Do you prefer noodles firmer or softer?</a:t>
            </a:r>
          </a:p>
          <a:p>
            <a:r>
              <a:t>6.Do you think eating instant noodles is good? Why?</a:t>
            </a:r>
          </a:p>
          <a:p>
            <a:r>
              <a:t>7.In your country, are there instant noodles?</a:t>
            </a:r>
          </a:p>
          <a:p>
            <a:r>
              <a:t>8.In your country, what do people eat when hungry at night?</a:t>
            </a:r>
          </a:p>
          <a:p>
            <a:r>
              <a:t>9.If you overcook something, would you still eat it?</a:t>
            </a:r>
          </a:p>
          <a:p>
            <a:r>
              <a:t>10.If you only have instant noodles, what would you add?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餓：tener hambre / hungry  //  煮：cocinar, hervir / cook, boil  //  泡麵：fideos instantáneos / instant noodles</a:t>
            </a:r>
          </a:p>
          <a:p>
            <a:r>
              <a:t>一包：un paquete / one pack  //  一邊…一邊…：mientras… / while…  //  等：esperar / wait</a:t>
            </a:r>
          </a:p>
          <a:p>
            <a:r>
              <a:t>過了很久：pasó mucho tiempo / after a long time  //  想到：acordarse de / think of  //  麵：fideos / noodles</a:t>
            </a:r>
          </a:p>
          <a:p>
            <a:r>
              <a:t>已經：ya / already  //  變得：volverse / become  //  軟軟的：blandito / soft, mushy</a:t>
            </a:r>
          </a:p>
          <a:p>
            <a:r>
              <a:t>湯：caldo, sopa / soup, broth</a:t>
            </a:r>
          </a:p>
          <a:p/>
          <a:p>
            <a:r>
              <a:t>問答：晚上我覺得怎麼樣? // 我煮了什麼? // 我一邊做什麼，一邊等? // 我什麼時候才想到泡麵? // 麵變得怎麼樣? // 湯怎麼了? // 最後我吃了嗎?</a:t>
            </a:r>
          </a:p>
          <a:p>
            <a:r>
              <a:t>補充：一邊…一邊…（一邊吃飯一邊看電視、一邊走路一邊聽音樂） // 才（過了很久才想到、很晚才睡；recién/hasta que） // 已經…了（已經變軟了、已經十二點了）</a:t>
            </a:r>
          </a:p>
          <a:p/>
          <a:p>
            <a:r>
              <a:t>西班牙文：Por la noche tenía un poco de hambre. Cociné un paquete de fideos instantáneos. Mientras miraba el celular, esperaba. Pasó mucho tiempo hasta que me acordé de los fideos. Ya estaban blanditos. Y el caldo casi se había acabado. Aun así me los terminé.</a:t>
            </a:r>
          </a:p>
          <a:p>
            <a:r>
              <a:t>英文：In the evening I was a little hungry. I cooked a pack of instant noodles. I looked at my phone while waiting. After a long time I finally remembered the noodles. They had already gone soft. The broth was almost gone too. I still finished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1.你常常吃泡麵嗎? ¿Comes fideos instantáneos con frecuencia?</a:t>
            </a:r>
          </a:p>
          <a:p>
            <a:r>
              <a:t>2.你喜歡什麼口味的泡麵? ¿Qué sabor de fideos instantáneos te gusta?</a:t>
            </a:r>
          </a:p>
          <a:p>
            <a:r>
              <a:t>3.你最近一次煮東西是什麼時候? ¿Cuándo fue la última vez que cocinaste?</a:t>
            </a:r>
          </a:p>
          <a:p>
            <a:r>
              <a:t>4.你煮東西的時候，會做別的事嗎? Cuando cocinas, ¿haces otras cosas?</a:t>
            </a:r>
          </a:p>
          <a:p>
            <a:r>
              <a:t>5.你喜歡麵硬一點還是軟一點? ¿Prefieres los fideos más duros o más blandos?</a:t>
            </a:r>
          </a:p>
          <a:p>
            <a:r>
              <a:t>6.你覺得吃泡麵好不好? 為什麼? ¿Crees que comer fideos instantáneos es bueno? ¿Por qué?</a:t>
            </a:r>
          </a:p>
          <a:p>
            <a:r>
              <a:t>7.在你的國家，有泡麵嗎? En tu país, ¿hay fideos instantáneos?</a:t>
            </a:r>
          </a:p>
          <a:p>
            <a:r>
              <a:t>8.在你的國家，大家晚上餓了會吃什麼? En tu país, ¿qué come la gente cuando tiene hambre de noche?</a:t>
            </a:r>
          </a:p>
          <a:p>
            <a:r>
              <a:t>9.如果你煮壞了，還會吃嗎? Si cocinas mal algo, ¿igual lo comes?</a:t>
            </a:r>
          </a:p>
          <a:p>
            <a:r>
              <a:t>10.如果你只有泡麵，你會加什麼東西? Si solo tienes fideos instantáneos, ¿qué les agregarías?</a:t>
            </a:r>
          </a:p>
          <a:p/>
          <a:p>
            <a:r>
              <a:t>1.Do you often eat instant noodles?</a:t>
            </a:r>
          </a:p>
          <a:p>
            <a:r>
              <a:t>2.What flavor of instant noodles do you like?</a:t>
            </a:r>
          </a:p>
          <a:p>
            <a:r>
              <a:t>3.When was the last time you cooked?</a:t>
            </a:r>
          </a:p>
          <a:p>
            <a:r>
              <a:t>4.When you cook, do you do other things?</a:t>
            </a:r>
          </a:p>
          <a:p>
            <a:r>
              <a:t>5.Do you prefer noodles firmer or softer?</a:t>
            </a:r>
          </a:p>
          <a:p>
            <a:r>
              <a:t>6.Do you think eating instant noodles is good? Why?</a:t>
            </a:r>
          </a:p>
          <a:p>
            <a:r>
              <a:t>7.In your country, are there instant noodles?</a:t>
            </a:r>
          </a:p>
          <a:p>
            <a:r>
              <a:t>8.In your country, what do people eat when hungry at night?</a:t>
            </a:r>
          </a:p>
          <a:p>
            <a:r>
              <a:t>9.If you overcook something, would you still eat it?</a:t>
            </a:r>
          </a:p>
          <a:p>
            <a:r>
              <a:t>10.If you only have instant noodles, what would you add?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r>
              <a:rPr sz="4000" lang="zh-TW">
                <a:solidFill>
                  <a:srgbClr val="000000"/>
                </a:solidFill>
                <a:latin typeface="澳聲通拼音庫楷-繁"/>
                <a:ea typeface="澳聲通拼音庫楷-繁"/>
                <a:cs typeface="澳聲通拼音庫楷-繁"/>
              </a:rPr>
              <a:t>晚上我有點餓</a:t>
            </a:r>
          </a:p>
          <a:p>
            <a:pPr algn="ctr">
              <a:lnSpc>
                <a:spcPct val="150000"/>
              </a:lnSpc>
            </a:pPr>
            <a:r>
              <a:rPr sz="4000" lang="zh-TW">
                <a:solidFill>
                  <a:srgbClr val="000000"/>
                </a:solidFill>
                <a:latin typeface="澳聲通拼音庫楷-繁"/>
                <a:ea typeface="澳聲通拼音庫楷-繁"/>
                <a:cs typeface="澳聲通拼音庫楷-繁"/>
              </a:rPr>
              <a:t>我煮了一包泡麵</a:t>
            </a:r>
          </a:p>
          <a:p>
            <a:pPr algn="ctr">
              <a:lnSpc>
                <a:spcPct val="150000"/>
              </a:lnSpc>
            </a:pPr>
            <a:r>
              <a:rPr sz="4000" lang="zh-TW">
                <a:solidFill>
                  <a:srgbClr val="000000"/>
                </a:solidFill>
                <a:latin typeface="澳聲通拼音庫楷-繁"/>
                <a:ea typeface="澳聲通拼音庫楷-繁"/>
                <a:cs typeface="澳聲通拼音庫楷-繁"/>
              </a:rPr>
              <a:t>我一邊看手機，一邊等</a:t>
            </a:r>
          </a:p>
          <a:p>
            <a:pPr algn="ctr">
              <a:lnSpc>
                <a:spcPct val="150000"/>
              </a:lnSpc>
            </a:pPr>
            <a:r>
              <a:rPr sz="4000" lang="zh-TW">
                <a:solidFill>
                  <a:srgbClr val="000000"/>
                </a:solidFill>
                <a:latin typeface="澳聲通拼音庫楷-繁"/>
                <a:ea typeface="澳聲通拼音庫楷-繁"/>
                <a:cs typeface="澳聲通拼音庫楷-繁"/>
              </a:rPr>
              <a:t>過了很久才想到泡麵</a:t>
            </a:r>
          </a:p>
          <a:p>
            <a:pPr algn="ctr">
              <a:lnSpc>
                <a:spcPct val="150000"/>
              </a:lnSpc>
            </a:pPr>
            <a:r>
              <a:rPr sz="4000" lang="zh-TW">
                <a:solidFill>
                  <a:srgbClr val="000000"/>
                </a:solidFill>
                <a:latin typeface="澳聲通拼音庫楷-繁"/>
                <a:ea typeface="澳聲通拼音庫楷-繁"/>
                <a:cs typeface="澳聲通拼音庫楷-繁"/>
              </a:rPr>
              <a:t>麵已經變得軟軟的</a:t>
            </a:r>
          </a:p>
          <a:p>
            <a:pPr algn="ctr">
              <a:lnSpc>
                <a:spcPct val="150000"/>
              </a:lnSpc>
            </a:pPr>
            <a:r>
              <a:rPr sz="4000" lang="zh-TW">
                <a:solidFill>
                  <a:srgbClr val="000000"/>
                </a:solidFill>
                <a:latin typeface="澳聲通拼音庫楷-繁"/>
                <a:ea typeface="澳聲通拼音庫楷-繁"/>
                <a:cs typeface="澳聲通拼音庫楷-繁"/>
              </a:rPr>
              <a:t>湯也快沒有了</a:t>
            </a:r>
          </a:p>
          <a:p>
            <a:pPr algn="ctr">
              <a:lnSpc>
                <a:spcPct val="150000"/>
              </a:lnSpc>
            </a:pPr>
            <a:r>
              <a:rPr sz="4000" lang="zh-TW">
                <a:solidFill>
                  <a:srgbClr val="000000"/>
                </a:solidFill>
                <a:latin typeface="澳聲通拼音庫楷-繁"/>
                <a:ea typeface="澳聲通拼音庫楷-繁"/>
                <a:cs typeface="澳聲通拼音庫楷-繁"/>
              </a:rPr>
              <a:t>我還是把它吃完了</a:t>
            </a: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r>
              <a:rPr sz="4000" lang="zh-CN">
                <a:solidFill>
                  <a:srgbClr val="000000"/>
                </a:solidFill>
                <a:latin typeface="澳聲通拼音庫楷-繁"/>
                <a:ea typeface="澳聲通拼音庫楷-繁"/>
                <a:cs typeface="澳聲通拼音庫楷-繁"/>
              </a:rPr>
              <a:t>晚上我有点饿</a:t>
            </a:r>
          </a:p>
          <a:p>
            <a:pPr algn="ctr">
              <a:lnSpc>
                <a:spcPct val="150000"/>
              </a:lnSpc>
            </a:pPr>
            <a:r>
              <a:rPr sz="4000" lang="zh-CN">
                <a:solidFill>
                  <a:srgbClr val="000000"/>
                </a:solidFill>
                <a:latin typeface="澳聲通拼音庫楷-繁"/>
                <a:ea typeface="澳聲通拼音庫楷-繁"/>
                <a:cs typeface="澳聲通拼音庫楷-繁"/>
              </a:rPr>
              <a:t>我煮了一包泡面</a:t>
            </a:r>
          </a:p>
          <a:p>
            <a:pPr algn="ctr">
              <a:lnSpc>
                <a:spcPct val="150000"/>
              </a:lnSpc>
            </a:pPr>
            <a:r>
              <a:rPr sz="4000" lang="zh-CN">
                <a:solidFill>
                  <a:srgbClr val="000000"/>
                </a:solidFill>
                <a:latin typeface="澳聲通拼音庫楷-繁"/>
                <a:ea typeface="澳聲通拼音庫楷-繁"/>
                <a:cs typeface="澳聲通拼音庫楷-繁"/>
              </a:rPr>
              <a:t>我一边看手机，一边等</a:t>
            </a:r>
          </a:p>
          <a:p>
            <a:pPr algn="ctr">
              <a:lnSpc>
                <a:spcPct val="150000"/>
              </a:lnSpc>
            </a:pPr>
            <a:r>
              <a:rPr sz="4000" lang="zh-CN">
                <a:solidFill>
                  <a:srgbClr val="000000"/>
                </a:solidFill>
                <a:latin typeface="澳聲通拼音庫楷-繁"/>
                <a:ea typeface="澳聲通拼音庫楷-繁"/>
                <a:cs typeface="澳聲通拼音庫楷-繁"/>
              </a:rPr>
              <a:t>过了很久才想到泡面</a:t>
            </a:r>
          </a:p>
          <a:p>
            <a:pPr algn="ctr">
              <a:lnSpc>
                <a:spcPct val="150000"/>
              </a:lnSpc>
            </a:pPr>
            <a:r>
              <a:rPr sz="4000" lang="zh-CN">
                <a:solidFill>
                  <a:srgbClr val="000000"/>
                </a:solidFill>
                <a:latin typeface="澳聲通拼音庫楷-繁"/>
                <a:ea typeface="澳聲通拼音庫楷-繁"/>
                <a:cs typeface="澳聲通拼音庫楷-繁"/>
              </a:rPr>
              <a:t>面已经变得软软的</a:t>
            </a:r>
          </a:p>
          <a:p>
            <a:pPr algn="ctr">
              <a:lnSpc>
                <a:spcPct val="150000"/>
              </a:lnSpc>
            </a:pPr>
            <a:r>
              <a:rPr sz="4000" lang="zh-CN">
                <a:solidFill>
                  <a:srgbClr val="000000"/>
                </a:solidFill>
                <a:latin typeface="澳聲通拼音庫楷-繁"/>
                <a:ea typeface="澳聲通拼音庫楷-繁"/>
                <a:cs typeface="澳聲通拼音庫楷-繁"/>
              </a:rPr>
              <a:t>汤也快没有了</a:t>
            </a:r>
          </a:p>
          <a:p>
            <a:pPr algn="ctr">
              <a:lnSpc>
                <a:spcPct val="150000"/>
              </a:lnSpc>
            </a:pPr>
            <a:r>
              <a:rPr sz="4000" lang="zh-CN">
                <a:solidFill>
                  <a:srgbClr val="000000"/>
                </a:solidFill>
                <a:latin typeface="澳聲通拼音庫楷-繁"/>
                <a:ea typeface="澳聲通拼音庫楷-繁"/>
                <a:cs typeface="澳聲通拼音庫楷-繁"/>
              </a:rPr>
              <a:t>我还是把它吃完了</a:t>
            </a: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036741" y="147106"/>
            <a:ext cx="8053659" cy="6588974"/>
          </a:xfrm>
          <a:prstGeom prst="rect">
            <a:avLst/>
          </a:prstGeom>
          <a:solidFill>
            <a:srgbClr val="DAE3F3"/>
          </a:solidFill>
          <a:ln w="19050">
            <a:solidFill>
              <a:srgbClr val="375623"/>
            </a:solidFill>
          </a:ln>
        </p:spPr>
        <p:txBody>
          <a:bodyPr wrap="square" anchor="ctr">
            <a:noAutofit/>
          </a:bodyPr>
          <a:lstStyle/>
          <a:p>
            <a:pPr algn="ctr">
              <a:lnSpc>
                <a:spcPct val="150000"/>
              </a:lnSpc>
            </a:pPr>
          </a:p>
        </p:txBody>
      </p:sp>
      <p:sp>
        <p:nvSpPr>
          <p:cNvPr id="3" name="TextBox 2"/>
          <p:cNvSpPr txBox="1"/>
          <p:nvPr/>
        </p:nvSpPr>
        <p:spPr>
          <a:xfrm>
            <a:off x="217798" y="2823882"/>
            <a:ext cx="3718582" cy="3912197"/>
          </a:xfrm>
          <a:prstGeom prst="rect">
            <a:avLst/>
          </a:prstGeom>
          <a:solidFill>
            <a:srgbClr val="E2F0D9"/>
          </a:solidFill>
          <a:ln w="19050">
            <a:solidFill>
              <a:srgbClr val="375623"/>
            </a:solidFill>
          </a:ln>
        </p:spPr>
        <p:txBody>
          <a:bodyPr wrap="square" anchor="ctr">
            <a:noAutofit/>
          </a:bodyPr>
          <a:lstStyle/>
          <a:p>
            <a:pPr algn="ctr">
              <a:lnSpc>
                <a:spcPct val="150000"/>
              </a:lnSpc>
            </a:pPr>
          </a:p>
        </p:txBody>
      </p:sp>
      <p:sp>
        <p:nvSpPr>
          <p:cNvPr id="4" name="Rectangle 3"/>
          <p:cNvSpPr/>
          <p:nvPr/>
        </p:nvSpPr>
        <p:spPr>
          <a:xfrm>
            <a:off x="217798" y="147106"/>
            <a:ext cx="3718582" cy="2600000"/>
          </a:xfrm>
          <a:prstGeom prst="rect">
            <a:avLst/>
          </a:prstGeom>
          <a:solidFill>
            <a:srgbClr val="F2F2F2"/>
          </a:solidFill>
          <a:ln>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r>
              <a:t>（在這裡放圖片）</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