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沒電：sin batería / out of battery  //  快…了：a punto de… / about to…  //  忘：olvidar / forget</a:t>
            </a:r>
          </a:p>
          <a:p>
            <a:r>
              <a:t>帶：traer, llevar / bring  //  充電線：cable de carga / charging cable  //  同事：colega de trabajo / coworker</a:t>
            </a:r>
          </a:p>
          <a:p>
            <a:r>
              <a:t>借：prestar / pedir prestado / lend / borrow  //  當然：claro / of course  //  線：cable, hilo / cable, wire</a:t>
            </a:r>
          </a:p>
          <a:p>
            <a:r>
              <a:t>感動：conmovido / touched  //  請：invitar (pagar por otro) / treat (someone)  //  飲料：bebida / drink</a:t>
            </a:r>
          </a:p>
          <a:p>
            <a:r>
              <a:t>借：借我＝你給我用 (pedir prestado a alguien) // 借你＝我給你用 (prestarle a alguien)</a:t>
            </a:r>
          </a:p>
          <a:p/>
          <a:p>
            <a:r>
              <a:t>問答：我的手機怎麼了? // 我忘了帶什麼? // 我問誰? // 同事怎麼回答? // 我為什麼很感動? // 最後我想怎麼謝謝他?</a:t>
            </a:r>
          </a:p>
          <a:p>
            <a:r>
              <a:t>補充：能不能+V（能不能借我、能不能幫我、能不能小聲一點） // 忘了+V（忘了帶充電線、忘了關門、忘了寫名字） // 請你+V（我請你喝飲料；請客＝invitar）</a:t>
            </a:r>
          </a:p>
          <a:p/>
          <a:p>
            <a:r>
              <a:t>西班牙文：A mi celular casi se le acababa la batería. Pero olvidé traer el cable de carga. Le pregunté a mi colega si me lo podía prestar. Dijo: «¡Claro que sí!». Me dio el cable y me sentí muy agradecido. Le dije: «Yo te invito una bebida».</a:t>
            </a:r>
          </a:p>
          <a:p>
            <a:r>
              <a:t>英文：My phone was about to die. But I forgot to bring my charging cable. I asked my coworker if I could borrow one. He said, "Of course!" He gave me the cable and I was really touched. I said, "I'll treat you to a drink."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1.你的手機常常沒電嗎? ¿Tu celular se queda sin batería con frecuencia?</a:t>
            </a:r>
          </a:p>
          <a:p>
            <a:r>
              <a:t>2.你出門會帶充電線或行動電源嗎? ¿Llevas cable de carga o batería externa al salir?</a:t>
            </a:r>
          </a:p>
          <a:p>
            <a:r>
              <a:t>3.你最近一次跟別人借東西是什麼時候? ¿Cuándo fue la última vez que le pediste algo prestado a alguien?</a:t>
            </a:r>
          </a:p>
          <a:p>
            <a:r>
              <a:t>4.你通常跟誰借東西? ¿A quién sueles pedirle cosas prestadas?</a:t>
            </a:r>
          </a:p>
          <a:p>
            <a:r>
              <a:t>5.你借東西的時候，會怎麼開口? Cuando pides algo prestado, ¿cómo lo dices?</a:t>
            </a:r>
          </a:p>
          <a:p>
            <a:r>
              <a:t>6.別人幫你以後，你會怎麼謝謝他? Después de que alguien te ayuda, ¿cómo le agradeces?</a:t>
            </a:r>
          </a:p>
          <a:p>
            <a:r>
              <a:t>7.在你的國家，大家喜歡借東西給別人嗎? En tu país, ¿a la gente le gusta prestar cosas?</a:t>
            </a:r>
          </a:p>
          <a:p>
            <a:r>
              <a:t>8.在你的國家，手機沒電了可以去哪裡充電? En tu país, si el celular se queda sin batería, ¿dónde se puede cargar?</a:t>
            </a:r>
          </a:p>
          <a:p>
            <a:r>
              <a:t>9.如果你忘了帶手機，你會怎麼辦? Si olvidas tu celular, ¿qué haces?</a:t>
            </a:r>
          </a:p>
          <a:p>
            <a:r>
              <a:t>10.如果別人一直不還你東西，你會怎麼說? Si alguien nunca te devuelve tus cosas, ¿qué le dices?</a:t>
            </a:r>
          </a:p>
          <a:p/>
          <a:p>
            <a:r>
              <a:t>1.Does your phone often run out of battery?</a:t>
            </a:r>
          </a:p>
          <a:p>
            <a:r>
              <a:t>2.Do you bring a charging cable or power bank when you go out?</a:t>
            </a:r>
          </a:p>
          <a:p>
            <a:r>
              <a:t>3.When was the last time you borrowed something from someone?</a:t>
            </a:r>
          </a:p>
          <a:p>
            <a:r>
              <a:t>4.Who do you usually borrow things from?</a:t>
            </a:r>
          </a:p>
          <a:p>
            <a:r>
              <a:t>5.When you borrow something, how do you ask?</a:t>
            </a:r>
          </a:p>
          <a:p>
            <a:r>
              <a:t>6.After someone helps you, how do you thank them?</a:t>
            </a:r>
          </a:p>
          <a:p>
            <a:r>
              <a:t>7.In your country, do people like lending things?</a:t>
            </a:r>
          </a:p>
          <a:p>
            <a:r>
              <a:t>8.In your country, where can you charge a phone that has run out of battery?</a:t>
            </a:r>
          </a:p>
          <a:p>
            <a:r>
              <a:t>9.If you forget your phone, what do you do?</a:t>
            </a:r>
          </a:p>
          <a:p>
            <a:r>
              <a:t>10.If someone never returns your things, what would you say?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沒電：sin batería / out of battery  //  快…了：a punto de… / about to…  //  忘：olvidar / forget</a:t>
            </a:r>
          </a:p>
          <a:p>
            <a:r>
              <a:t>帶：traer, llevar / bring  //  充電線：cable de carga / charging cable  //  同事：colega de trabajo / coworker</a:t>
            </a:r>
          </a:p>
          <a:p>
            <a:r>
              <a:t>借：prestar / pedir prestado / lend / borrow  //  當然：claro / of course  //  線：cable, hilo / cable, wire</a:t>
            </a:r>
          </a:p>
          <a:p>
            <a:r>
              <a:t>感動：conmovido / touched  //  請：invitar (pagar por otro) / treat (someone)  //  飲料：bebida / drink</a:t>
            </a:r>
          </a:p>
          <a:p>
            <a:r>
              <a:t>借：借我＝你給我用 (pedir prestado a alguien) // 借你＝我給你用 (prestarle a alguien)</a:t>
            </a:r>
          </a:p>
          <a:p/>
          <a:p>
            <a:r>
              <a:t>問答：我的手機怎麼了? // 我忘了帶什麼? // 我問誰? // 同事怎麼回答? // 我為什麼很感動? // 最後我想怎麼謝謝他?</a:t>
            </a:r>
          </a:p>
          <a:p>
            <a:r>
              <a:t>補充：能不能+V（能不能借我、能不能幫我、能不能小聲一點） // 忘了+V（忘了帶充電線、忘了關門、忘了寫名字） // 請你+V（我請你喝飲料；請客＝invitar）</a:t>
            </a:r>
          </a:p>
          <a:p/>
          <a:p>
            <a:r>
              <a:t>西班牙文：A mi celular casi se le acababa la batería. Pero olvidé traer el cable de carga. Le pregunté a mi colega si me lo podía prestar. Dijo: «¡Claro que sí!». Me dio el cable y me sentí muy agradecido. Le dije: «Yo te invito una bebida».</a:t>
            </a:r>
          </a:p>
          <a:p>
            <a:r>
              <a:t>英文：My phone was about to die. But I forgot to bring my charging cable. I asked my coworker if I could borrow one. He said, "Of course!" He gave me the cable and I was really touched. I said, "I'll treat you to a drink."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1.你的手機常常沒電嗎? ¿Tu celular se queda sin batería con frecuencia?</a:t>
            </a:r>
          </a:p>
          <a:p>
            <a:r>
              <a:t>2.你出門會帶充電線或行動電源嗎? ¿Llevas cable de carga o batería externa al salir?</a:t>
            </a:r>
          </a:p>
          <a:p>
            <a:r>
              <a:t>3.你最近一次跟別人借東西是什麼時候? ¿Cuándo fue la última vez que le pediste algo prestado a alguien?</a:t>
            </a:r>
          </a:p>
          <a:p>
            <a:r>
              <a:t>4.你通常跟誰借東西? ¿A quién sueles pedirle cosas prestadas?</a:t>
            </a:r>
          </a:p>
          <a:p>
            <a:r>
              <a:t>5.你借東西的時候，會怎麼開口? Cuando pides algo prestado, ¿cómo lo dices?</a:t>
            </a:r>
          </a:p>
          <a:p>
            <a:r>
              <a:t>6.別人幫你以後，你會怎麼謝謝他? Después de que alguien te ayuda, ¿cómo le agradeces?</a:t>
            </a:r>
          </a:p>
          <a:p>
            <a:r>
              <a:t>7.在你的國家，大家喜歡借東西給別人嗎? En tu país, ¿a la gente le gusta prestar cosas?</a:t>
            </a:r>
          </a:p>
          <a:p>
            <a:r>
              <a:t>8.在你的國家，手機沒電了可以去哪裡充電? En tu país, si el celular se queda sin batería, ¿dónde se puede cargar?</a:t>
            </a:r>
          </a:p>
          <a:p>
            <a:r>
              <a:t>9.如果你忘了帶手機，你會怎麼辦? Si olvidas tu celular, ¿qué haces?</a:t>
            </a:r>
          </a:p>
          <a:p>
            <a:r>
              <a:t>10.如果別人一直不還你東西，你會怎麼說? Si alguien nunca te devuelve tus cosas, ¿qué le dices?</a:t>
            </a:r>
          </a:p>
          <a:p/>
          <a:p>
            <a:r>
              <a:t>1.Does your phone often run out of battery?</a:t>
            </a:r>
          </a:p>
          <a:p>
            <a:r>
              <a:t>2.Do you bring a charging cable or power bank when you go out?</a:t>
            </a:r>
          </a:p>
          <a:p>
            <a:r>
              <a:t>3.When was the last time you borrowed something from someone?</a:t>
            </a:r>
          </a:p>
          <a:p>
            <a:r>
              <a:t>4.Who do you usually borrow things from?</a:t>
            </a:r>
          </a:p>
          <a:p>
            <a:r>
              <a:t>5.When you borrow something, how do you ask?</a:t>
            </a:r>
          </a:p>
          <a:p>
            <a:r>
              <a:t>6.After someone helps you, how do you thank them?</a:t>
            </a:r>
          </a:p>
          <a:p>
            <a:r>
              <a:t>7.In your country, do people like lending things?</a:t>
            </a:r>
          </a:p>
          <a:p>
            <a:r>
              <a:t>8.In your country, where can you charge a phone that has run out of battery?</a:t>
            </a:r>
          </a:p>
          <a:p>
            <a:r>
              <a:t>9.If you forget your phone, what do you do?</a:t>
            </a:r>
          </a:p>
          <a:p>
            <a:r>
              <a:t>10.If someone never returns your things, what would you say?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36741" y="147106"/>
            <a:ext cx="8053659" cy="6588974"/>
          </a:xfrm>
          <a:prstGeom prst="rect">
            <a:avLst/>
          </a:prstGeom>
          <a:solidFill>
            <a:srgbClr val="DAE3F3"/>
          </a:solidFill>
          <a:ln w="19050">
            <a:solidFill>
              <a:srgbClr val="375623"/>
            </a:solidFill>
          </a:ln>
        </p:spPr>
        <p:txBody>
          <a:bodyPr wrap="square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sz="4000" lang="zh-TW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我的手機快沒電了</a:t>
            </a:r>
          </a:p>
          <a:p>
            <a:pPr algn="ctr">
              <a:lnSpc>
                <a:spcPct val="150000"/>
              </a:lnSpc>
            </a:pPr>
            <a:r>
              <a:rPr sz="4000" lang="zh-TW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可是我忘了帶充電線</a:t>
            </a:r>
          </a:p>
          <a:p>
            <a:pPr algn="ctr">
              <a:lnSpc>
                <a:spcPct val="150000"/>
              </a:lnSpc>
            </a:pPr>
            <a:r>
              <a:rPr sz="4000" lang="zh-TW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我問同事能不能借</a:t>
            </a:r>
          </a:p>
          <a:p>
            <a:pPr algn="ctr">
              <a:lnSpc>
                <a:spcPct val="150000"/>
              </a:lnSpc>
            </a:pPr>
            <a:r>
              <a:rPr sz="4000" lang="zh-TW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他說：「當然可以！」</a:t>
            </a:r>
          </a:p>
          <a:p>
            <a:pPr algn="ctr">
              <a:lnSpc>
                <a:spcPct val="150000"/>
              </a:lnSpc>
            </a:pPr>
            <a:r>
              <a:rPr sz="4000" lang="zh-TW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他把線給我，我很感動</a:t>
            </a:r>
          </a:p>
          <a:p>
            <a:pPr algn="ctr">
              <a:lnSpc>
                <a:spcPct val="150000"/>
              </a:lnSpc>
            </a:pPr>
            <a:r>
              <a:rPr sz="4000" lang="zh-TW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我說：「我請你喝飲料」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7798" y="2823882"/>
            <a:ext cx="3718582" cy="3912197"/>
          </a:xfrm>
          <a:prstGeom prst="rect">
            <a:avLst/>
          </a:prstGeom>
          <a:solidFill>
            <a:srgbClr val="E2F0D9"/>
          </a:solidFill>
          <a:ln w="19050">
            <a:solidFill>
              <a:srgbClr val="375623"/>
            </a:solidFill>
          </a:ln>
        </p:spPr>
        <p:txBody>
          <a:bodyPr wrap="square" anchor="ctr">
            <a:noAutofit/>
          </a:bodyPr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4" name="Rectangle 3"/>
          <p:cNvSpPr/>
          <p:nvPr/>
        </p:nvSpPr>
        <p:spPr>
          <a:xfrm>
            <a:off x="217798" y="147106"/>
            <a:ext cx="3718582" cy="2600000"/>
          </a:xfrm>
          <a:prstGeom prst="rect">
            <a:avLst/>
          </a:prstGeom>
          <a:solidFill>
            <a:srgbClr val="F2F2F2"/>
          </a:solidFill>
          <a:ln>
            <a:solidFill>
              <a:srgbClr val="A6A6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（在這裡放圖片）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36741" y="147106"/>
            <a:ext cx="8053659" cy="6588974"/>
          </a:xfrm>
          <a:prstGeom prst="rect">
            <a:avLst/>
          </a:prstGeom>
          <a:solidFill>
            <a:srgbClr val="DAE3F3"/>
          </a:solidFill>
          <a:ln w="19050">
            <a:solidFill>
              <a:srgbClr val="375623"/>
            </a:solidFill>
          </a:ln>
        </p:spPr>
        <p:txBody>
          <a:bodyPr wrap="square" anchor="ctr">
            <a:noAutofit/>
          </a:bodyPr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217798" y="2823882"/>
            <a:ext cx="3718582" cy="3912197"/>
          </a:xfrm>
          <a:prstGeom prst="rect">
            <a:avLst/>
          </a:prstGeom>
          <a:solidFill>
            <a:srgbClr val="E2F0D9"/>
          </a:solidFill>
          <a:ln w="19050">
            <a:solidFill>
              <a:srgbClr val="375623"/>
            </a:solidFill>
          </a:ln>
        </p:spPr>
        <p:txBody>
          <a:bodyPr wrap="square" anchor="ctr">
            <a:noAutofit/>
          </a:bodyPr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4" name="Rectangle 3"/>
          <p:cNvSpPr/>
          <p:nvPr/>
        </p:nvSpPr>
        <p:spPr>
          <a:xfrm>
            <a:off x="217798" y="147106"/>
            <a:ext cx="3718582" cy="2600000"/>
          </a:xfrm>
          <a:prstGeom prst="rect">
            <a:avLst/>
          </a:prstGeom>
          <a:solidFill>
            <a:srgbClr val="F2F2F2"/>
          </a:solidFill>
          <a:ln>
            <a:solidFill>
              <a:srgbClr val="A6A6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（在這裡放圖片）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36741" y="147106"/>
            <a:ext cx="8053659" cy="6588974"/>
          </a:xfrm>
          <a:prstGeom prst="rect">
            <a:avLst/>
          </a:prstGeom>
          <a:solidFill>
            <a:srgbClr val="DAE3F3"/>
          </a:solidFill>
          <a:ln w="19050">
            <a:solidFill>
              <a:srgbClr val="375623"/>
            </a:solidFill>
          </a:ln>
        </p:spPr>
        <p:txBody>
          <a:bodyPr wrap="square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sz="4000" lang="zh-CN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我的手机快没电了</a:t>
            </a:r>
          </a:p>
          <a:p>
            <a:pPr algn="ctr">
              <a:lnSpc>
                <a:spcPct val="150000"/>
              </a:lnSpc>
            </a:pPr>
            <a:r>
              <a:rPr sz="4000" lang="zh-CN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可是我忘了带充电线</a:t>
            </a:r>
          </a:p>
          <a:p>
            <a:pPr algn="ctr">
              <a:lnSpc>
                <a:spcPct val="150000"/>
              </a:lnSpc>
            </a:pPr>
            <a:r>
              <a:rPr sz="4000" lang="zh-CN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我问同事能不能借</a:t>
            </a:r>
          </a:p>
          <a:p>
            <a:pPr algn="ctr">
              <a:lnSpc>
                <a:spcPct val="150000"/>
              </a:lnSpc>
            </a:pPr>
            <a:r>
              <a:rPr sz="4000" lang="zh-CN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他说：「当然可以！」</a:t>
            </a:r>
          </a:p>
          <a:p>
            <a:pPr algn="ctr">
              <a:lnSpc>
                <a:spcPct val="150000"/>
              </a:lnSpc>
            </a:pPr>
            <a:r>
              <a:rPr sz="4000" lang="zh-CN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他把线给我，我很感动</a:t>
            </a:r>
          </a:p>
          <a:p>
            <a:pPr algn="ctr">
              <a:lnSpc>
                <a:spcPct val="150000"/>
              </a:lnSpc>
            </a:pPr>
            <a:r>
              <a:rPr sz="4000" lang="zh-CN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我说：「我请你喝饮料」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7798" y="2823882"/>
            <a:ext cx="3718582" cy="3912197"/>
          </a:xfrm>
          <a:prstGeom prst="rect">
            <a:avLst/>
          </a:prstGeom>
          <a:solidFill>
            <a:srgbClr val="E2F0D9"/>
          </a:solidFill>
          <a:ln w="19050">
            <a:solidFill>
              <a:srgbClr val="375623"/>
            </a:solidFill>
          </a:ln>
        </p:spPr>
        <p:txBody>
          <a:bodyPr wrap="square" anchor="ctr">
            <a:noAutofit/>
          </a:bodyPr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4" name="Rectangle 3"/>
          <p:cNvSpPr/>
          <p:nvPr/>
        </p:nvSpPr>
        <p:spPr>
          <a:xfrm>
            <a:off x="217798" y="147106"/>
            <a:ext cx="3718582" cy="2600000"/>
          </a:xfrm>
          <a:prstGeom prst="rect">
            <a:avLst/>
          </a:prstGeom>
          <a:solidFill>
            <a:srgbClr val="F2F2F2"/>
          </a:solidFill>
          <a:ln>
            <a:solidFill>
              <a:srgbClr val="A6A6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（在這裡放圖片）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36741" y="147106"/>
            <a:ext cx="8053659" cy="6588974"/>
          </a:xfrm>
          <a:prstGeom prst="rect">
            <a:avLst/>
          </a:prstGeom>
          <a:solidFill>
            <a:srgbClr val="DAE3F3"/>
          </a:solidFill>
          <a:ln w="19050">
            <a:solidFill>
              <a:srgbClr val="375623"/>
            </a:solidFill>
          </a:ln>
        </p:spPr>
        <p:txBody>
          <a:bodyPr wrap="square" anchor="ctr">
            <a:noAutofit/>
          </a:bodyPr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217798" y="2823882"/>
            <a:ext cx="3718582" cy="3912197"/>
          </a:xfrm>
          <a:prstGeom prst="rect">
            <a:avLst/>
          </a:prstGeom>
          <a:solidFill>
            <a:srgbClr val="E2F0D9"/>
          </a:solidFill>
          <a:ln w="19050">
            <a:solidFill>
              <a:srgbClr val="375623"/>
            </a:solidFill>
          </a:ln>
        </p:spPr>
        <p:txBody>
          <a:bodyPr wrap="square" anchor="ctr">
            <a:noAutofit/>
          </a:bodyPr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4" name="Rectangle 3"/>
          <p:cNvSpPr/>
          <p:nvPr/>
        </p:nvSpPr>
        <p:spPr>
          <a:xfrm>
            <a:off x="217798" y="147106"/>
            <a:ext cx="3718582" cy="2600000"/>
          </a:xfrm>
          <a:prstGeom prst="rect">
            <a:avLst/>
          </a:prstGeom>
          <a:solidFill>
            <a:srgbClr val="F2F2F2"/>
          </a:solidFill>
          <a:ln>
            <a:solidFill>
              <a:srgbClr val="A6A6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（在這裡放圖片）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