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螢幕：pantalla / screen  //  刮痕：rayón / scratch  //  保護貼：protector de pantalla / screen protector</a:t>
            </a:r>
          </a:p>
          <a:p>
            <a:r>
              <a:t>一張：un/una (objetos planos) / one (flat object)  //  店員：empleado(a) de tienda / store clerk  //  貼：pegar / stick, apply</a:t>
            </a:r>
          </a:p>
          <a:p>
            <a:r>
              <a:t>擦：limpiar, frotar / wipe  //  乾淨：limpio / clean  //  慢慢：despacio / slowly</a:t>
            </a:r>
          </a:p>
          <a:p>
            <a:r>
              <a:t>泡泡：burbuja / bubble  //  過幾天：dentro de unos días / in a few days  //  新：nuevo / new</a:t>
            </a:r>
          </a:p>
          <a:p/>
          <a:p>
            <a:r>
              <a:t>問答：我的手機螢幕怎麼了? // 我想買什麼? // 誰幫我貼? // 店員先做什麼，再做什麼? // 貼好以後還有什麼問題? // 店員怎麼說? // 最後我開心嗎?</a:t>
            </a:r>
          </a:p>
          <a:p>
            <a:r>
              <a:t>補充：先…再…（先擦乾淨，再貼上去；先洗手，再吃飯） // 量詞「張」：一張保護貼、一張紙、一張桌子 // 像…（手機像新的）</a:t>
            </a:r>
          </a:p>
          <a:p/>
          <a:p>
            <a:r>
              <a:t>西班牙文：La pantalla de mi celular tenía un rayón. Quería comprar un protector de pantalla. El empleado dijo: «Yo se lo pongo». Primero la limpió bien y luego la pegó despacio. Pero todavía quedó una burbuja pequeña. Dijo: «En unos días se quita». Quedé muy contento: el celular parecía nuevo.</a:t>
            </a:r>
          </a:p>
          <a:p>
            <a:r>
              <a:t>英文：My phone screen had a scratch. I wanted to buy a screen protector. The clerk said, "I'll put it on for you." He wiped it clean first, then applied it slowly. But there was still one small bubble. He said, "It'll be fine in a few days." I was very happy; the phone looked new.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1.你用什麼牌子的手機? ¿Qué marca de celular usas?</a:t>
            </a:r>
          </a:p>
          <a:p>
            <a:r>
              <a:t>2.你的手機有貼保護貼嗎? ¿Tu celular tiene protector de pantalla?</a:t>
            </a:r>
          </a:p>
          <a:p>
            <a:r>
              <a:t>3.你的手機螢幕有刮痕嗎? ¿La pantalla de tu celular tiene rayones?</a:t>
            </a:r>
          </a:p>
          <a:p>
            <a:r>
              <a:t>4.你的手機有沒有掉過? 掉到哪裡? ¿Se te ha caído el celular? ¿Dónde?</a:t>
            </a:r>
          </a:p>
          <a:p>
            <a:r>
              <a:t>5.你喜歡自己貼還是請店員貼? ¿Prefieres ponerlo tú o que lo haga el empleado?</a:t>
            </a:r>
          </a:p>
          <a:p>
            <a:r>
              <a:t>6.你每天用手機做什麼? ¿Qué haces con tu celular cada día?</a:t>
            </a:r>
          </a:p>
          <a:p>
            <a:r>
              <a:t>7.在你的國家，手機貼膜要多少錢? En tu país, ¿cuánto cuesta poner un protector de pantalla?</a:t>
            </a:r>
          </a:p>
          <a:p>
            <a:r>
              <a:t>8.在你的國家，大家用手機殼嗎? En tu país, ¿la gente usa funda para el celular?</a:t>
            </a:r>
          </a:p>
          <a:p>
            <a:r>
              <a:t>9.如果手機螢幕破了，你會怎麼辦? Si la pantalla se rompe, ¿qué haces?</a:t>
            </a:r>
          </a:p>
          <a:p>
            <a:r>
              <a:t>10.如果貼膜有很多泡泡，你會跟店員說什麼? Si el protector tiene muchas burbujas, ¿qué le dices al empleado?</a:t>
            </a:r>
          </a:p>
          <a:p/>
          <a:p>
            <a:r>
              <a:t>1.What brand of phone do you use?</a:t>
            </a:r>
          </a:p>
          <a:p>
            <a:r>
              <a:t>2.Does your phone have a screen protector?</a:t>
            </a:r>
          </a:p>
          <a:p>
            <a:r>
              <a:t>3.Does your phone screen have scratches?</a:t>
            </a:r>
          </a:p>
          <a:p>
            <a:r>
              <a:t>4.Have you ever dropped your phone? Where?</a:t>
            </a:r>
          </a:p>
          <a:p>
            <a:r>
              <a:t>5.Do you prefer to apply it yourself or ask the clerk?</a:t>
            </a:r>
          </a:p>
          <a:p>
            <a:r>
              <a:t>6.What do you do with your phone every day?</a:t>
            </a:r>
          </a:p>
          <a:p>
            <a:r>
              <a:t>7.In your country, how much does a screen protector cost?</a:t>
            </a:r>
          </a:p>
          <a:p>
            <a:r>
              <a:t>8.In your country, do people use phone cases?</a:t>
            </a:r>
          </a:p>
          <a:p>
            <a:r>
              <a:t>9.If your phone screen breaks, what do you do?</a:t>
            </a:r>
          </a:p>
          <a:p>
            <a:r>
              <a:t>10.If the protector has many bubbles, what would you tell the clerk?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螢幕：pantalla / screen  //  刮痕：rayón / scratch  //  保護貼：protector de pantalla / screen protector</a:t>
            </a:r>
          </a:p>
          <a:p>
            <a:r>
              <a:t>一張：un/una (objetos planos) / one (flat object)  //  店員：empleado(a) de tienda / store clerk  //  貼：pegar / stick, apply</a:t>
            </a:r>
          </a:p>
          <a:p>
            <a:r>
              <a:t>擦：limpiar, frotar / wipe  //  乾淨：limpio / clean  //  慢慢：despacio / slowly</a:t>
            </a:r>
          </a:p>
          <a:p>
            <a:r>
              <a:t>泡泡：burbuja / bubble  //  過幾天：dentro de unos días / in a few days  //  新：nuevo / new</a:t>
            </a:r>
          </a:p>
          <a:p/>
          <a:p>
            <a:r>
              <a:t>問答：我的手機螢幕怎麼了? // 我想買什麼? // 誰幫我貼? // 店員先做什麼，再做什麼? // 貼好以後還有什麼問題? // 店員怎麼說? // 最後我開心嗎?</a:t>
            </a:r>
          </a:p>
          <a:p>
            <a:r>
              <a:t>補充：先…再…（先擦乾淨，再貼上去；先洗手，再吃飯） // 量詞「張」：一張保護貼、一張紙、一張桌子 // 像…（手機像新的）</a:t>
            </a:r>
          </a:p>
          <a:p/>
          <a:p>
            <a:r>
              <a:t>西班牙文：La pantalla de mi celular tenía un rayón. Quería comprar un protector de pantalla. El empleado dijo: «Yo se lo pongo». Primero la limpió bien y luego la pegó despacio. Pero todavía quedó una burbuja pequeña. Dijo: «En unos días se quita». Quedé muy contento: el celular parecía nuevo.</a:t>
            </a:r>
          </a:p>
          <a:p>
            <a:r>
              <a:t>英文：My phone screen had a scratch. I wanted to buy a screen protector. The clerk said, "I'll put it on for you." He wiped it clean first, then applied it slowly. But there was still one small bubble. He said, "It'll be fine in a few days." I was very happy; the phone looked new.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1.你用什麼牌子的手機? ¿Qué marca de celular usas?</a:t>
            </a:r>
          </a:p>
          <a:p>
            <a:r>
              <a:t>2.你的手機有貼保護貼嗎? ¿Tu celular tiene protector de pantalla?</a:t>
            </a:r>
          </a:p>
          <a:p>
            <a:r>
              <a:t>3.你的手機螢幕有刮痕嗎? ¿La pantalla de tu celular tiene rayones?</a:t>
            </a:r>
          </a:p>
          <a:p>
            <a:r>
              <a:t>4.你的手機有沒有掉過? 掉到哪裡? ¿Se te ha caído el celular? ¿Dónde?</a:t>
            </a:r>
          </a:p>
          <a:p>
            <a:r>
              <a:t>5.你喜歡自己貼還是請店員貼? ¿Prefieres ponerlo tú o que lo haga el empleado?</a:t>
            </a:r>
          </a:p>
          <a:p>
            <a:r>
              <a:t>6.你每天用手機做什麼? ¿Qué haces con tu celular cada día?</a:t>
            </a:r>
          </a:p>
          <a:p>
            <a:r>
              <a:t>7.在你的國家，手機貼膜要多少錢? En tu país, ¿cuánto cuesta poner un protector de pantalla?</a:t>
            </a:r>
          </a:p>
          <a:p>
            <a:r>
              <a:t>8.在你的國家，大家用手機殼嗎? En tu país, ¿la gente usa funda para el celular?</a:t>
            </a:r>
          </a:p>
          <a:p>
            <a:r>
              <a:t>9.如果手機螢幕破了，你會怎麼辦? Si la pantalla se rompe, ¿qué haces?</a:t>
            </a:r>
          </a:p>
          <a:p>
            <a:r>
              <a:t>10.如果貼膜有很多泡泡，你會跟店員說什麼? Si el protector tiene muchas burbujas, ¿qué le dices al empleado?</a:t>
            </a:r>
          </a:p>
          <a:p/>
          <a:p>
            <a:r>
              <a:t>1.What brand of phone do you use?</a:t>
            </a:r>
          </a:p>
          <a:p>
            <a:r>
              <a:t>2.Does your phone have a screen protector?</a:t>
            </a:r>
          </a:p>
          <a:p>
            <a:r>
              <a:t>3.Does your phone screen have scratches?</a:t>
            </a:r>
          </a:p>
          <a:p>
            <a:r>
              <a:t>4.Have you ever dropped your phone? Where?</a:t>
            </a:r>
          </a:p>
          <a:p>
            <a:r>
              <a:t>5.Do you prefer to apply it yourself or ask the clerk?</a:t>
            </a:r>
          </a:p>
          <a:p>
            <a:r>
              <a:t>6.What do you do with your phone every day?</a:t>
            </a:r>
          </a:p>
          <a:p>
            <a:r>
              <a:t>7.In your country, how much does a screen protector cost?</a:t>
            </a:r>
          </a:p>
          <a:p>
            <a:r>
              <a:t>8.In your country, do people use phone cases?</a:t>
            </a:r>
          </a:p>
          <a:p>
            <a:r>
              <a:t>9.If your phone screen breaks, what do you do?</a:t>
            </a:r>
          </a:p>
          <a:p>
            <a:r>
              <a:t>10.If the protector has many bubbles, what would you tell the clerk?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r>
              <a:rPr sz="4000" lang="zh-TW">
                <a:solidFill>
                  <a:srgbClr val="000000"/>
                </a:solidFill>
                <a:latin typeface="澳聲通拼音庫楷-繁"/>
                <a:ea typeface="澳聲通拼音庫楷-繁"/>
                <a:cs typeface="澳聲通拼音庫楷-繁"/>
              </a:rPr>
              <a:t>我的手機螢幕有刮痕</a:t>
            </a:r>
          </a:p>
          <a:p>
            <a:pPr algn="ctr">
              <a:lnSpc>
                <a:spcPct val="150000"/>
              </a:lnSpc>
            </a:pPr>
            <a:r>
              <a:rPr sz="4000" lang="zh-TW">
                <a:solidFill>
                  <a:srgbClr val="000000"/>
                </a:solidFill>
                <a:latin typeface="澳聲通拼音庫楷-繁"/>
                <a:ea typeface="澳聲通拼音庫楷-繁"/>
                <a:cs typeface="澳聲通拼音庫楷-繁"/>
              </a:rPr>
              <a:t>我想買一張保護貼</a:t>
            </a:r>
          </a:p>
          <a:p>
            <a:pPr algn="ctr">
              <a:lnSpc>
                <a:spcPct val="150000"/>
              </a:lnSpc>
            </a:pPr>
            <a:r>
              <a:rPr sz="4000" lang="zh-TW">
                <a:solidFill>
                  <a:srgbClr val="000000"/>
                </a:solidFill>
                <a:latin typeface="澳聲通拼音庫楷-繁"/>
                <a:ea typeface="澳聲通拼音庫楷-繁"/>
                <a:cs typeface="澳聲通拼音庫楷-繁"/>
              </a:rPr>
              <a:t>店員說：「我幫你貼」</a:t>
            </a:r>
          </a:p>
          <a:p>
            <a:pPr algn="ctr">
              <a:lnSpc>
                <a:spcPct val="150000"/>
              </a:lnSpc>
            </a:pPr>
            <a:r>
              <a:rPr sz="4000" lang="zh-TW">
                <a:solidFill>
                  <a:srgbClr val="000000"/>
                </a:solidFill>
                <a:latin typeface="澳聲通拼音庫楷-繁"/>
                <a:ea typeface="澳聲通拼音庫楷-繁"/>
                <a:cs typeface="澳聲通拼音庫楷-繁"/>
              </a:rPr>
              <a:t>他先擦乾淨，再慢慢貼</a:t>
            </a:r>
          </a:p>
          <a:p>
            <a:pPr algn="ctr">
              <a:lnSpc>
                <a:spcPct val="150000"/>
              </a:lnSpc>
            </a:pPr>
            <a:r>
              <a:rPr sz="4000" lang="zh-TW">
                <a:solidFill>
                  <a:srgbClr val="000000"/>
                </a:solidFill>
                <a:latin typeface="澳聲通拼音庫楷-繁"/>
                <a:ea typeface="澳聲通拼音庫楷-繁"/>
                <a:cs typeface="澳聲通拼音庫楷-繁"/>
              </a:rPr>
              <a:t>可是還是有一個小泡泡</a:t>
            </a:r>
          </a:p>
          <a:p>
            <a:pPr algn="ctr">
              <a:lnSpc>
                <a:spcPct val="150000"/>
              </a:lnSpc>
            </a:pPr>
            <a:r>
              <a:rPr sz="4000" lang="zh-TW">
                <a:solidFill>
                  <a:srgbClr val="000000"/>
                </a:solidFill>
                <a:latin typeface="澳聲通拼音庫楷-繁"/>
                <a:ea typeface="澳聲通拼音庫楷-繁"/>
                <a:cs typeface="澳聲通拼音庫楷-繁"/>
              </a:rPr>
              <a:t>他說：「過幾天就好了」</a:t>
            </a:r>
          </a:p>
          <a:p>
            <a:pPr algn="ctr">
              <a:lnSpc>
                <a:spcPct val="150000"/>
              </a:lnSpc>
            </a:pPr>
            <a:r>
              <a:rPr sz="4000" lang="zh-TW">
                <a:solidFill>
                  <a:srgbClr val="000000"/>
                </a:solidFill>
                <a:latin typeface="澳聲通拼音庫楷-繁"/>
                <a:ea typeface="澳聲通拼音庫楷-繁"/>
                <a:cs typeface="澳聲通拼音庫楷-繁"/>
              </a:rPr>
              <a:t>我很開心，手機像新的</a:t>
            </a: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r>
              <a:rPr sz="4000" lang="zh-CN">
                <a:solidFill>
                  <a:srgbClr val="000000"/>
                </a:solidFill>
                <a:latin typeface="澳聲通拼音庫楷-繁"/>
                <a:ea typeface="澳聲通拼音庫楷-繁"/>
                <a:cs typeface="澳聲通拼音庫楷-繁"/>
              </a:rPr>
              <a:t>我的手机荧幕有刮痕</a:t>
            </a:r>
          </a:p>
          <a:p>
            <a:pPr algn="ctr">
              <a:lnSpc>
                <a:spcPct val="150000"/>
              </a:lnSpc>
            </a:pPr>
            <a:r>
              <a:rPr sz="4000" lang="zh-CN">
                <a:solidFill>
                  <a:srgbClr val="000000"/>
                </a:solidFill>
                <a:latin typeface="澳聲通拼音庫楷-繁"/>
                <a:ea typeface="澳聲通拼音庫楷-繁"/>
                <a:cs typeface="澳聲通拼音庫楷-繁"/>
              </a:rPr>
              <a:t>我想买一张保护贴</a:t>
            </a:r>
          </a:p>
          <a:p>
            <a:pPr algn="ctr">
              <a:lnSpc>
                <a:spcPct val="150000"/>
              </a:lnSpc>
            </a:pPr>
            <a:r>
              <a:rPr sz="4000" lang="zh-CN">
                <a:solidFill>
                  <a:srgbClr val="000000"/>
                </a:solidFill>
                <a:latin typeface="澳聲通拼音庫楷-繁"/>
                <a:ea typeface="澳聲通拼音庫楷-繁"/>
                <a:cs typeface="澳聲通拼音庫楷-繁"/>
              </a:rPr>
              <a:t>店员说：「我帮你贴」</a:t>
            </a:r>
          </a:p>
          <a:p>
            <a:pPr algn="ctr">
              <a:lnSpc>
                <a:spcPct val="150000"/>
              </a:lnSpc>
            </a:pPr>
            <a:r>
              <a:rPr sz="4000" lang="zh-CN">
                <a:solidFill>
                  <a:srgbClr val="000000"/>
                </a:solidFill>
                <a:latin typeface="澳聲通拼音庫楷-繁"/>
                <a:ea typeface="澳聲通拼音庫楷-繁"/>
                <a:cs typeface="澳聲通拼音庫楷-繁"/>
              </a:rPr>
              <a:t>他先擦干净，再慢慢贴</a:t>
            </a:r>
          </a:p>
          <a:p>
            <a:pPr algn="ctr">
              <a:lnSpc>
                <a:spcPct val="150000"/>
              </a:lnSpc>
            </a:pPr>
            <a:r>
              <a:rPr sz="4000" lang="zh-CN">
                <a:solidFill>
                  <a:srgbClr val="000000"/>
                </a:solidFill>
                <a:latin typeface="澳聲通拼音庫楷-繁"/>
                <a:ea typeface="澳聲通拼音庫楷-繁"/>
                <a:cs typeface="澳聲通拼音庫楷-繁"/>
              </a:rPr>
              <a:t>可是还是有一个小泡泡</a:t>
            </a:r>
          </a:p>
          <a:p>
            <a:pPr algn="ctr">
              <a:lnSpc>
                <a:spcPct val="150000"/>
              </a:lnSpc>
            </a:pPr>
            <a:r>
              <a:rPr sz="4000" lang="zh-CN">
                <a:solidFill>
                  <a:srgbClr val="000000"/>
                </a:solidFill>
                <a:latin typeface="澳聲通拼音庫楷-繁"/>
                <a:ea typeface="澳聲通拼音庫楷-繁"/>
                <a:cs typeface="澳聲通拼音庫楷-繁"/>
              </a:rPr>
              <a:t>他说：「过几天就好了」</a:t>
            </a:r>
          </a:p>
          <a:p>
            <a:pPr algn="ctr">
              <a:lnSpc>
                <a:spcPct val="150000"/>
              </a:lnSpc>
            </a:pPr>
            <a:r>
              <a:rPr sz="4000" lang="zh-CN">
                <a:solidFill>
                  <a:srgbClr val="000000"/>
                </a:solidFill>
                <a:latin typeface="澳聲通拼音庫楷-繁"/>
                <a:ea typeface="澳聲通拼音庫楷-繁"/>
                <a:cs typeface="澳聲通拼音庫楷-繁"/>
              </a:rPr>
              <a:t>我很开心，手机像新的</a:t>
            </a: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